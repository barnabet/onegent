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554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scope: a 1,000-SKU retail inventory workbook across eight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headline: strong sales and margin, but low-stock risk is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Electronics is the clear revenue and margin engine; other categories form a mid-market cluster.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 the discussion on velocity versus inventory on hand: low-stock SKUs are small in count and stock, but meaningful in sales.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out the Electronics concentration and the specific top-selling low-stock products.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the operating appendix: category managers can identify where to focus.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practical action plan for replenishment, category rules and weekly exceptions.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554" cy="6858000"/>
          </a:xfrm>
          <a:prstGeom prst="rect">
            <a:avLst/>
          </a:prstGeom>
          <a:gradFill flip="none" rotWithShape="1">
            <a:gsLst>
              <a:gs pos="0">
                <a:srgbClr val="0B1F3A"/>
              </a:gs>
              <a:gs pos="58000">
                <a:srgbClr val="164B7A"/>
              </a:gs>
              <a:gs pos="100000">
                <a:srgbClr val="2E7D8A"/>
              </a:gs>
            </a:gsLst>
            <a:lin ang="135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580" y="3954512"/>
            <a:ext cx="11094393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9D9E8"/>
                </a:solidFill>
                <a:latin typeface="Arial"/>
              </a:rPr>
              <a:t>Retail Inventory Workbook · 1,000 SKUs · 8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580" y="4235648"/>
            <a:ext cx="11094393" cy="12433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Arial"/>
              </a:rPr>
              <a:t>Retail Inventory</a:t>
            </a:r>
          </a:p>
          <a:p>
            <a:pPr algn="l"/>
            <a:r>
              <a:rPr sz="4800" b="1" i="0">
                <a:solidFill>
                  <a:srgbClr val="FFFFFF"/>
                </a:solidFill>
                <a:latin typeface="Arial"/>
              </a:rPr>
              <a:t>Performance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580" y="5588645"/>
            <a:ext cx="11094393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DCECF4"/>
                </a:solidFill>
                <a:latin typeface="Arial"/>
              </a:rPr>
              <a:t>Sales, margin, stock risk and reorder priorities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580" y="6266706"/>
            <a:ext cx="11094393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0D4DF"/>
                </a:solidFill>
                <a:latin typeface="Arial"/>
              </a:rPr>
              <a:t>Prepared from precomputed workbook figures · Editable 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554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580" y="438894"/>
            <a:ext cx="11094393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6B82"/>
                </a:solidFill>
                <a:latin typeface="Arial"/>
              </a:rPr>
              <a:t>Executive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580" y="610344"/>
            <a:ext cx="11094393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B1F3A"/>
                </a:solidFill>
                <a:latin typeface="Arial"/>
              </a:rPr>
              <a:t>Strong sales base with concentrated inventory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580" y="1101775"/>
            <a:ext cx="11094393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B82"/>
                </a:solidFill>
                <a:latin typeface="Arial"/>
              </a:rPr>
              <a:t>Portfolio-wide performance and immediate working-capital signals.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580" y="1520875"/>
            <a:ext cx="2101751" cy="1049238"/>
          </a:xfrm>
          <a:prstGeom prst="roundRect">
            <a:avLst>
              <a:gd name="adj" fmla="val 11329"/>
            </a:avLst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561" y="1694855"/>
            <a:ext cx="1753791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20" b="1" i="0">
                <a:solidFill>
                  <a:srgbClr val="607086"/>
                </a:solidFill>
                <a:latin typeface="Arial"/>
              </a:rPr>
              <a:t>SKUs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561" y="1882973"/>
            <a:ext cx="1753791" cy="35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Arial"/>
              </a:rPr>
              <a:t>1,000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561" y="2262783"/>
            <a:ext cx="1753791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07086"/>
                </a:solidFill>
                <a:latin typeface="Arial"/>
              </a:rPr>
              <a:t>8 categories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96629" y="1520875"/>
            <a:ext cx="2101900" cy="1049238"/>
          </a:xfrm>
          <a:prstGeom prst="roundRect">
            <a:avLst>
              <a:gd name="adj" fmla="val 11329"/>
            </a:avLst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0609" y="1694855"/>
            <a:ext cx="1753939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20" b="1" i="0">
                <a:solidFill>
                  <a:srgbClr val="607086"/>
                </a:solidFill>
                <a:latin typeface="Arial"/>
              </a:rPr>
              <a:t>Units sold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0609" y="1882973"/>
            <a:ext cx="1753939" cy="35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Arial"/>
              </a:rPr>
              <a:t>137k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0609" y="2262783"/>
            <a:ext cx="1753939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07086"/>
                </a:solidFill>
                <a:latin typeface="Arial"/>
              </a:rPr>
              <a:t>from 262k opening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4827" y="1520875"/>
            <a:ext cx="2101751" cy="1049238"/>
          </a:xfrm>
          <a:prstGeom prst="roundRect">
            <a:avLst>
              <a:gd name="adj" fmla="val 11329"/>
            </a:avLst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8807" y="1694855"/>
            <a:ext cx="1753791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20" b="1" i="0">
                <a:solidFill>
                  <a:srgbClr val="607086"/>
                </a:solidFill>
                <a:latin typeface="Arial"/>
              </a:rPr>
              <a:t>Closing stock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8807" y="1882973"/>
            <a:ext cx="1753791" cy="35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Arial"/>
              </a:rPr>
              <a:t>125k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8807" y="2262783"/>
            <a:ext cx="1753791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07086"/>
                </a:solidFill>
                <a:latin typeface="Arial"/>
              </a:rPr>
              <a:t>units on hand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2876" y="1520875"/>
            <a:ext cx="2101900" cy="1049238"/>
          </a:xfrm>
          <a:prstGeom prst="roundRect">
            <a:avLst>
              <a:gd name="adj" fmla="val 11329"/>
            </a:avLst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856" y="1694855"/>
            <a:ext cx="1753939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20" b="1" i="0">
                <a:solidFill>
                  <a:srgbClr val="607086"/>
                </a:solidFill>
                <a:latin typeface="Arial"/>
              </a:rPr>
              <a:t>Sales at retail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6856" y="1882973"/>
            <a:ext cx="1753939" cy="35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Arial"/>
              </a:rPr>
              <a:t>$3.83M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6856" y="2262783"/>
            <a:ext cx="1753939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07086"/>
                </a:solidFill>
                <a:latin typeface="Arial"/>
              </a:rPr>
              <a:t>gross demand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41073" y="1520875"/>
            <a:ext cx="2101751" cy="1049238"/>
          </a:xfrm>
          <a:prstGeom prst="roundRect">
            <a:avLst>
              <a:gd name="adj" fmla="val 11329"/>
            </a:avLst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5054" y="1694855"/>
            <a:ext cx="1753791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20" b="1" i="0">
                <a:solidFill>
                  <a:srgbClr val="607086"/>
                </a:solidFill>
                <a:latin typeface="Arial"/>
              </a:rPr>
              <a:t>Gross margin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5054" y="1882973"/>
            <a:ext cx="1753791" cy="35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Arial"/>
              </a:rPr>
              <a:t>$1.63M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5054" y="2262783"/>
            <a:ext cx="1753791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607086"/>
                </a:solidFill>
                <a:latin typeface="Arial"/>
              </a:rPr>
              <a:t>$11.92/unit avg.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580" y="2798713"/>
            <a:ext cx="11094393" cy="728960"/>
          </a:xfrm>
          <a:prstGeom prst="roundRect">
            <a:avLst>
              <a:gd name="adj" fmla="val 10035"/>
            </a:avLst>
          </a:prstGeom>
          <a:solidFill>
            <a:srgbClr val="EA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748" y="2963305"/>
            <a:ext cx="10692057" cy="399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99" b="1" i="0">
                <a:solidFill>
                  <a:srgbClr val="26374D"/>
                </a:solidFill>
                <a:latin typeface="Arial"/>
              </a:rPr>
              <a:t>Key signal:</a:t>
            </a:r>
            <a:r>
              <a:rPr sz="1299" b="0" i="0">
                <a:solidFill>
                  <a:srgbClr val="26374D"/>
                </a:solidFill>
                <a:latin typeface="Arial"/>
              </a:rPr>
              <a:t> 149 SKUs are low stock (14.9% of portfolio), yet they generated 34,789 units sold — a high-velocity segment that needs targeted replenishment.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272" y="2963168"/>
            <a:ext cx="88076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99" b="1" i="0">
                <a:solidFill>
                  <a:srgbClr val="26374D"/>
                </a:solidFill>
                <a:latin typeface="Arial"/>
              </a:rPr>
              <a:t>Key signal: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70196" y="6542633"/>
            <a:ext cx="209996" cy="114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9" b="0" i="0">
                <a:solidFill>
                  <a:srgbClr val="98A6B8"/>
                </a:solidFill>
                <a:latin typeface="Arial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554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580" y="438894"/>
            <a:ext cx="11094393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6B82"/>
                </a:solidFill>
                <a:latin typeface="Arial"/>
              </a:rPr>
              <a:t>Category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580" y="610344"/>
            <a:ext cx="11094393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B1F3A"/>
                </a:solidFill>
                <a:latin typeface="Arial"/>
              </a:rPr>
              <a:t>Electronics dominates sales and margin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580" y="1101775"/>
            <a:ext cx="11094393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B82"/>
                </a:solidFill>
                <a:latin typeface="Arial"/>
              </a:rPr>
              <a:t>Sales and gross margin by category, ordered by sales at retail.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580" y="1493341"/>
            <a:ext cx="5670798" cy="2555081"/>
          </a:xfrm>
          <a:prstGeom prst="roundRect">
            <a:avLst>
              <a:gd name="adj" fmla="val 5010"/>
            </a:avLst>
          </a:prstGeom>
          <a:solidFill>
            <a:srgbClr val="FFFFFF"/>
          </a:solidFill>
          <a:ln w="9525">
            <a:solidFill>
              <a:srgbClr val="DF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9172" y="1703933"/>
            <a:ext cx="5249614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Arial"/>
              </a:rPr>
              <a:t>Sales at retail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9172" y="2061716"/>
            <a:ext cx="1225153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0" i="0">
                <a:solidFill>
                  <a:srgbClr val="172033"/>
                </a:solidFill>
                <a:latin typeface="Arial"/>
              </a:rPr>
              <a:t>Electronics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75706" y="2060079"/>
            <a:ext cx="3128516" cy="146298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75706" y="2060079"/>
            <a:ext cx="3128516" cy="146298"/>
          </a:xfrm>
          <a:prstGeom prst="roundRect">
            <a:avLst>
              <a:gd name="adj" fmla="val 50000"/>
            </a:avLst>
          </a:prstGeom>
          <a:solidFill>
            <a:srgbClr val="1D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95602" y="2061716"/>
            <a:ext cx="713184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60" b="1" i="0">
                <a:solidFill>
                  <a:srgbClr val="44546A"/>
                </a:solidFill>
                <a:latin typeface="Arial"/>
              </a:rPr>
              <a:t>$1.24M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9172" y="2294781"/>
            <a:ext cx="1225153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0" i="0">
                <a:solidFill>
                  <a:srgbClr val="172033"/>
                </a:solidFill>
                <a:latin typeface="Arial"/>
              </a:rPr>
              <a:t>Toys &amp; Games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75706" y="2293144"/>
            <a:ext cx="3128516" cy="146298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75706" y="2293144"/>
            <a:ext cx="1263848" cy="146298"/>
          </a:xfrm>
          <a:prstGeom prst="roundRect">
            <a:avLst>
              <a:gd name="adj" fmla="val 50000"/>
            </a:avLst>
          </a:prstGeom>
          <a:solidFill>
            <a:srgbClr val="1D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95602" y="2294781"/>
            <a:ext cx="713184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60" b="1" i="0">
                <a:solidFill>
                  <a:srgbClr val="44546A"/>
                </a:solidFill>
                <a:latin typeface="Arial"/>
              </a:rPr>
              <a:t>$501k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9172" y="2527846"/>
            <a:ext cx="1225153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0" i="0">
                <a:solidFill>
                  <a:srgbClr val="172033"/>
                </a:solidFill>
                <a:latin typeface="Arial"/>
              </a:rPr>
              <a:t>Clothing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75706" y="2526209"/>
            <a:ext cx="3128516" cy="146298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075706" y="2526209"/>
            <a:ext cx="1195090" cy="146298"/>
          </a:xfrm>
          <a:prstGeom prst="roundRect">
            <a:avLst>
              <a:gd name="adj" fmla="val 50000"/>
            </a:avLst>
          </a:prstGeom>
          <a:solidFill>
            <a:srgbClr val="1D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95602" y="2527846"/>
            <a:ext cx="713184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60" b="1" i="0">
                <a:solidFill>
                  <a:srgbClr val="44546A"/>
                </a:solidFill>
                <a:latin typeface="Arial"/>
              </a:rPr>
              <a:t>$473k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9172" y="2760911"/>
            <a:ext cx="1225153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0" i="0">
                <a:solidFill>
                  <a:srgbClr val="172033"/>
                </a:solidFill>
                <a:latin typeface="Arial"/>
              </a:rPr>
              <a:t>Home &amp; Kitchen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75706" y="2759273"/>
            <a:ext cx="3128516" cy="146298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075706" y="2759273"/>
            <a:ext cx="1185565" cy="146298"/>
          </a:xfrm>
          <a:prstGeom prst="roundRect">
            <a:avLst>
              <a:gd name="adj" fmla="val 50000"/>
            </a:avLst>
          </a:prstGeom>
          <a:solidFill>
            <a:srgbClr val="1D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95602" y="2760911"/>
            <a:ext cx="713184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60" b="1" i="0">
                <a:solidFill>
                  <a:srgbClr val="44546A"/>
                </a:solidFill>
                <a:latin typeface="Arial"/>
              </a:rPr>
              <a:t>$469k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9172" y="2993975"/>
            <a:ext cx="1225153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0" i="0">
                <a:solidFill>
                  <a:srgbClr val="172033"/>
                </a:solidFill>
                <a:latin typeface="Arial"/>
              </a:rPr>
              <a:t>Sports &amp; Outdoors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75706" y="2992338"/>
            <a:ext cx="3128516" cy="146298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075706" y="2992338"/>
            <a:ext cx="994767" cy="146298"/>
          </a:xfrm>
          <a:prstGeom prst="roundRect">
            <a:avLst>
              <a:gd name="adj" fmla="val 50000"/>
            </a:avLst>
          </a:prstGeom>
          <a:solidFill>
            <a:srgbClr val="1D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95602" y="2993975"/>
            <a:ext cx="713184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60" b="1" i="0">
                <a:solidFill>
                  <a:srgbClr val="44546A"/>
                </a:solidFill>
                <a:latin typeface="Arial"/>
              </a:rPr>
              <a:t>$394k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9172" y="3227040"/>
            <a:ext cx="1225153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0" i="0">
                <a:solidFill>
                  <a:srgbClr val="172033"/>
                </a:solidFill>
                <a:latin typeface="Arial"/>
              </a:rPr>
              <a:t>Beauty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75706" y="3225403"/>
            <a:ext cx="3128516" cy="146298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075706" y="3225403"/>
            <a:ext cx="897880" cy="146298"/>
          </a:xfrm>
          <a:prstGeom prst="roundRect">
            <a:avLst>
              <a:gd name="adj" fmla="val 50000"/>
            </a:avLst>
          </a:prstGeom>
          <a:solidFill>
            <a:srgbClr val="1D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95602" y="3227040"/>
            <a:ext cx="713184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60" b="1" i="0">
                <a:solidFill>
                  <a:srgbClr val="44546A"/>
                </a:solidFill>
                <a:latin typeface="Arial"/>
              </a:rPr>
              <a:t>$355k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9172" y="3460105"/>
            <a:ext cx="1225153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0" i="0">
                <a:solidFill>
                  <a:srgbClr val="172033"/>
                </a:solidFill>
                <a:latin typeface="Arial"/>
              </a:rPr>
              <a:t>Office Supplies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075706" y="3458468"/>
            <a:ext cx="3128516" cy="146298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075706" y="3458468"/>
            <a:ext cx="559891" cy="146298"/>
          </a:xfrm>
          <a:prstGeom prst="roundRect">
            <a:avLst>
              <a:gd name="adj" fmla="val 50000"/>
            </a:avLst>
          </a:prstGeom>
          <a:solidFill>
            <a:srgbClr val="1D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95602" y="3460105"/>
            <a:ext cx="713184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60" b="1" i="0">
                <a:solidFill>
                  <a:srgbClr val="44546A"/>
                </a:solidFill>
                <a:latin typeface="Arial"/>
              </a:rPr>
              <a:t>$222k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9172" y="3693170"/>
            <a:ext cx="1225153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0" i="0">
                <a:solidFill>
                  <a:srgbClr val="172033"/>
                </a:solidFill>
                <a:latin typeface="Arial"/>
              </a:rPr>
              <a:t>Grocery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075706" y="3691533"/>
            <a:ext cx="3128516" cy="146298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075706" y="3691533"/>
            <a:ext cx="453628" cy="146298"/>
          </a:xfrm>
          <a:prstGeom prst="roundRect">
            <a:avLst>
              <a:gd name="adj" fmla="val 50000"/>
            </a:avLst>
          </a:prstGeom>
          <a:solidFill>
            <a:srgbClr val="1D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95602" y="3693170"/>
            <a:ext cx="713184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60" b="1" i="0">
                <a:solidFill>
                  <a:srgbClr val="44546A"/>
                </a:solidFill>
                <a:latin typeface="Arial"/>
              </a:rPr>
              <a:t>$179k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11975" y="1493341"/>
            <a:ext cx="5130850" cy="2555081"/>
          </a:xfrm>
          <a:prstGeom prst="roundRect">
            <a:avLst>
              <a:gd name="adj" fmla="val 5010"/>
            </a:avLst>
          </a:prstGeom>
          <a:solidFill>
            <a:srgbClr val="FFFFFF"/>
          </a:solidFill>
          <a:ln w="9525">
            <a:solidFill>
              <a:srgbClr val="DF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22566" y="1703933"/>
            <a:ext cx="4709666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Arial"/>
              </a:rPr>
              <a:t>Gross margin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2566" y="2061716"/>
            <a:ext cx="1225153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0" i="0">
                <a:solidFill>
                  <a:srgbClr val="172033"/>
                </a:solidFill>
                <a:latin typeface="Arial"/>
              </a:rPr>
              <a:t>Electronics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39100" y="2060079"/>
            <a:ext cx="2588568" cy="146298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039100" y="2060079"/>
            <a:ext cx="2588568" cy="146298"/>
          </a:xfrm>
          <a:prstGeom prst="roundRect">
            <a:avLst>
              <a:gd name="adj" fmla="val 50000"/>
            </a:avLst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19048" y="2061716"/>
            <a:ext cx="713184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60" b="1" i="0">
                <a:solidFill>
                  <a:srgbClr val="44546A"/>
                </a:solidFill>
                <a:latin typeface="Arial"/>
              </a:rPr>
              <a:t>$522k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2566" y="2294781"/>
            <a:ext cx="1225153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0" i="0">
                <a:solidFill>
                  <a:srgbClr val="172033"/>
                </a:solidFill>
                <a:latin typeface="Arial"/>
              </a:rPr>
              <a:t>Toys &amp; Games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39100" y="2293144"/>
            <a:ext cx="2588568" cy="146298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039100" y="2293144"/>
            <a:ext cx="1076771" cy="146298"/>
          </a:xfrm>
          <a:prstGeom prst="roundRect">
            <a:avLst>
              <a:gd name="adj" fmla="val 50000"/>
            </a:avLst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19048" y="2294781"/>
            <a:ext cx="713184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60" b="1" i="0">
                <a:solidFill>
                  <a:srgbClr val="44546A"/>
                </a:solidFill>
                <a:latin typeface="Arial"/>
              </a:rPr>
              <a:t>$217k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2566" y="2527846"/>
            <a:ext cx="1225153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0" i="0">
                <a:solidFill>
                  <a:srgbClr val="172033"/>
                </a:solidFill>
                <a:latin typeface="Arial"/>
              </a:rPr>
              <a:t>Clothing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39100" y="2526209"/>
            <a:ext cx="2588568" cy="146298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039100" y="2526209"/>
            <a:ext cx="1014710" cy="146298"/>
          </a:xfrm>
          <a:prstGeom prst="roundRect">
            <a:avLst>
              <a:gd name="adj" fmla="val 50000"/>
            </a:avLst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719048" y="2527846"/>
            <a:ext cx="713184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60" b="1" i="0">
                <a:solidFill>
                  <a:srgbClr val="44546A"/>
                </a:solidFill>
                <a:latin typeface="Arial"/>
              </a:rPr>
              <a:t>$205k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2566" y="2760911"/>
            <a:ext cx="1225153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0" i="0">
                <a:solidFill>
                  <a:srgbClr val="172033"/>
                </a:solidFill>
                <a:latin typeface="Arial"/>
              </a:rPr>
              <a:t>Home &amp; Kitchen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39100" y="2759273"/>
            <a:ext cx="2588568" cy="146298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039100" y="2759273"/>
            <a:ext cx="973187" cy="146298"/>
          </a:xfrm>
          <a:prstGeom prst="roundRect">
            <a:avLst>
              <a:gd name="adj" fmla="val 50000"/>
            </a:avLst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719048" y="2760911"/>
            <a:ext cx="713184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60" b="1" i="0">
                <a:solidFill>
                  <a:srgbClr val="44546A"/>
                </a:solidFill>
                <a:latin typeface="Arial"/>
              </a:rPr>
              <a:t>$197k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22566" y="2993975"/>
            <a:ext cx="1225153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0" i="0">
                <a:solidFill>
                  <a:srgbClr val="172033"/>
                </a:solidFill>
                <a:latin typeface="Arial"/>
              </a:rPr>
              <a:t>Sports &amp; Outdoors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39100" y="2992338"/>
            <a:ext cx="2588568" cy="146298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039100" y="2992338"/>
            <a:ext cx="823020" cy="146298"/>
          </a:xfrm>
          <a:prstGeom prst="roundRect">
            <a:avLst>
              <a:gd name="adj" fmla="val 50000"/>
            </a:avLst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719048" y="2993975"/>
            <a:ext cx="713184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60" b="1" i="0">
                <a:solidFill>
                  <a:srgbClr val="44546A"/>
                </a:solidFill>
                <a:latin typeface="Arial"/>
              </a:rPr>
              <a:t>$166k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22566" y="3227040"/>
            <a:ext cx="1225153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0" i="0">
                <a:solidFill>
                  <a:srgbClr val="172033"/>
                </a:solidFill>
                <a:latin typeface="Arial"/>
              </a:rPr>
              <a:t>Beauty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039100" y="3225403"/>
            <a:ext cx="2588568" cy="146298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039100" y="3225403"/>
            <a:ext cx="758428" cy="146298"/>
          </a:xfrm>
          <a:prstGeom prst="roundRect">
            <a:avLst>
              <a:gd name="adj" fmla="val 50000"/>
            </a:avLst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719048" y="3227040"/>
            <a:ext cx="713184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60" b="1" i="0">
                <a:solidFill>
                  <a:srgbClr val="44546A"/>
                </a:solidFill>
                <a:latin typeface="Arial"/>
              </a:rPr>
              <a:t>$153k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22566" y="3460105"/>
            <a:ext cx="1225153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0" i="0">
                <a:solidFill>
                  <a:srgbClr val="172033"/>
                </a:solidFill>
                <a:latin typeface="Arial"/>
              </a:rPr>
              <a:t>Office Supplies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039100" y="3458468"/>
            <a:ext cx="2588568" cy="146298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039100" y="3458468"/>
            <a:ext cx="491728" cy="146298"/>
          </a:xfrm>
          <a:prstGeom prst="roundRect">
            <a:avLst>
              <a:gd name="adj" fmla="val 50000"/>
            </a:avLst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719048" y="3460105"/>
            <a:ext cx="713184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60" b="1" i="0">
                <a:solidFill>
                  <a:srgbClr val="44546A"/>
                </a:solidFill>
                <a:latin typeface="Arial"/>
              </a:rPr>
              <a:t>$99k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22566" y="3693170"/>
            <a:ext cx="1225153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" b="0" i="0">
                <a:solidFill>
                  <a:srgbClr val="172033"/>
                </a:solidFill>
                <a:latin typeface="Arial"/>
              </a:rPr>
              <a:t>Grocery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039100" y="3691533"/>
            <a:ext cx="2588568" cy="146298"/>
          </a:xfrm>
          <a:prstGeom prst="roundRect">
            <a:avLst>
              <a:gd name="adj" fmla="val 50000"/>
            </a:avLst>
          </a:prstGeom>
          <a:solidFill>
            <a:srgbClr val="E8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8039100" y="3691533"/>
            <a:ext cx="359718" cy="146298"/>
          </a:xfrm>
          <a:prstGeom prst="roundRect">
            <a:avLst>
              <a:gd name="adj" fmla="val 50000"/>
            </a:avLst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719048" y="3693170"/>
            <a:ext cx="713184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60" b="1" i="0">
                <a:solidFill>
                  <a:srgbClr val="44546A"/>
                </a:solidFill>
                <a:latin typeface="Arial"/>
              </a:rPr>
              <a:t>$73k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570196" y="6542633"/>
            <a:ext cx="209996" cy="114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9" b="0" i="0">
                <a:solidFill>
                  <a:srgbClr val="98A6B8"/>
                </a:solidFill>
                <a:latin typeface="Arial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554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580" y="438894"/>
            <a:ext cx="11094393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6B82"/>
                </a:solidFill>
                <a:latin typeface="Arial"/>
              </a:rPr>
              <a:t>Stock status &amp; reorder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580" y="610344"/>
            <a:ext cx="11094393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B1F3A"/>
                </a:solidFill>
                <a:latin typeface="Arial"/>
              </a:rPr>
              <a:t>Low-stock SKUs account for only 4% of units on hand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580" y="1101775"/>
            <a:ext cx="11094393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B82"/>
                </a:solidFill>
                <a:latin typeface="Arial"/>
              </a:rPr>
              <a:t>Replenishment risk is concentrated in fast-moving, low-inventory items.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580" y="1493341"/>
            <a:ext cx="5428357" cy="3038921"/>
          </a:xfrm>
          <a:prstGeom prst="roundRect">
            <a:avLst>
              <a:gd name="adj" fmla="val 4814"/>
            </a:avLst>
          </a:prstGeom>
          <a:solidFill>
            <a:srgbClr val="FFFFFF"/>
          </a:solidFill>
          <a:ln w="9525">
            <a:solidFill>
              <a:srgbClr val="DF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4090" y="1937147"/>
            <a:ext cx="4897338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4" b="1" i="0">
                <a:solidFill>
                  <a:srgbClr val="172033"/>
                </a:solidFill>
                <a:latin typeface="Arial"/>
              </a:rPr>
              <a:t>In Stock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4090" y="2324993"/>
            <a:ext cx="4897338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900" b="1" i="0">
                <a:solidFill>
                  <a:srgbClr val="0B1F3A"/>
                </a:solidFill>
                <a:latin typeface="Arial"/>
              </a:rPr>
              <a:t>851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4090" y="2896493"/>
            <a:ext cx="4897338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B82"/>
                </a:solidFill>
                <a:latin typeface="Arial"/>
              </a:rPr>
              <a:t>SKUs with adequate stock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4090" y="3288060"/>
            <a:ext cx="4897338" cy="326231"/>
          </a:xfrm>
          <a:prstGeom prst="rect">
            <a:avLst/>
          </a:prstGeom>
          <a:noFill/>
          <a:ln w="9525">
            <a:solidFill>
              <a:srgbClr val="E5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4090" y="3370356"/>
            <a:ext cx="4897338" cy="16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72033"/>
                </a:solidFill>
                <a:latin typeface="Arial"/>
              </a:rPr>
              <a:t>Units sold</a:t>
            </a:r>
            <a:r>
              <a:rPr sz="1100" b="1" i="0">
                <a:solidFill>
                  <a:srgbClr val="172033"/>
                </a:solidFill>
                <a:latin typeface="Arial"/>
              </a:rPr>
              <a:t>102,251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090" y="3379738"/>
            <a:ext cx="613172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72033"/>
                </a:solidFill>
                <a:latin typeface="Arial"/>
              </a:rPr>
              <a:t>Units sold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6603" y="3379738"/>
            <a:ext cx="504825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72033"/>
                </a:solidFill>
                <a:latin typeface="Arial"/>
              </a:rPr>
              <a:t>102,251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4090" y="3614291"/>
            <a:ext cx="4897338" cy="326231"/>
          </a:xfrm>
          <a:prstGeom prst="rect">
            <a:avLst/>
          </a:prstGeom>
          <a:noFill/>
          <a:ln w="9525">
            <a:solidFill>
              <a:srgbClr val="E5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090" y="3696587"/>
            <a:ext cx="4897338" cy="16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72033"/>
                </a:solidFill>
                <a:latin typeface="Arial"/>
              </a:rPr>
              <a:t>Closing units</a:t>
            </a:r>
            <a:r>
              <a:rPr sz="1100" b="1" i="0">
                <a:solidFill>
                  <a:srgbClr val="172033"/>
                </a:solidFill>
                <a:latin typeface="Arial"/>
              </a:rPr>
              <a:t>120,662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090" y="3705969"/>
            <a:ext cx="799505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72033"/>
                </a:solidFill>
                <a:latin typeface="Arial"/>
              </a:rPr>
              <a:t>Closing units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6603" y="3705969"/>
            <a:ext cx="504825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72033"/>
                </a:solidFill>
                <a:latin typeface="Arial"/>
              </a:rPr>
              <a:t>120,662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4090" y="3940522"/>
            <a:ext cx="4897338" cy="326231"/>
          </a:xfrm>
          <a:prstGeom prst="rect">
            <a:avLst/>
          </a:prstGeom>
          <a:noFill/>
          <a:ln w="9525">
            <a:solidFill>
              <a:srgbClr val="E5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090" y="4022818"/>
            <a:ext cx="4897338" cy="16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72033"/>
                </a:solidFill>
                <a:latin typeface="Arial"/>
              </a:rPr>
              <a:t>Inventory cost</a:t>
            </a:r>
            <a:r>
              <a:rPr sz="1100" b="1" i="0">
                <a:solidFill>
                  <a:srgbClr val="172033"/>
                </a:solidFill>
                <a:latin typeface="Arial"/>
              </a:rPr>
              <a:t>$1.89M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090" y="4032200"/>
            <a:ext cx="869305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72033"/>
                </a:solidFill>
                <a:latin typeface="Arial"/>
              </a:rPr>
              <a:t>Inventory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5596" y="4032200"/>
            <a:ext cx="465832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72033"/>
                </a:solidFill>
                <a:latin typeface="Arial"/>
              </a:rPr>
              <a:t>$1.89M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4616" y="1493341"/>
            <a:ext cx="5428357" cy="3038921"/>
          </a:xfrm>
          <a:prstGeom prst="roundRect">
            <a:avLst>
              <a:gd name="adj" fmla="val 4814"/>
            </a:avLst>
          </a:prstGeom>
          <a:solidFill>
            <a:srgbClr val="FFF8F5"/>
          </a:solidFill>
          <a:ln w="9525">
            <a:solidFill>
              <a:srgbClr val="F0C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0125" y="1937147"/>
            <a:ext cx="4897338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4" b="1" i="0">
                <a:solidFill>
                  <a:srgbClr val="172033"/>
                </a:solidFill>
                <a:latin typeface="Arial"/>
              </a:rPr>
              <a:t>Low Stock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0125" y="2324993"/>
            <a:ext cx="4897338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900" b="1" i="0">
                <a:solidFill>
                  <a:srgbClr val="C2412D"/>
                </a:solidFill>
                <a:latin typeface="Arial"/>
              </a:rPr>
              <a:t>149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0125" y="2896493"/>
            <a:ext cx="4897338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B82"/>
                </a:solidFill>
                <a:latin typeface="Arial"/>
              </a:rPr>
              <a:t>14.9% of SKUs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80125" y="3288060"/>
            <a:ext cx="4897338" cy="326231"/>
          </a:xfrm>
          <a:prstGeom prst="rect">
            <a:avLst/>
          </a:prstGeom>
          <a:noFill/>
          <a:ln w="9525">
            <a:solidFill>
              <a:srgbClr val="E5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80125" y="3370356"/>
            <a:ext cx="4897338" cy="16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72033"/>
                </a:solidFill>
                <a:latin typeface="Arial"/>
              </a:rPr>
              <a:t>Units sold</a:t>
            </a:r>
            <a:r>
              <a:rPr sz="1100" b="1" i="0">
                <a:solidFill>
                  <a:srgbClr val="172033"/>
                </a:solidFill>
                <a:latin typeface="Arial"/>
              </a:rPr>
              <a:t>34,789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0125" y="3379738"/>
            <a:ext cx="613172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72033"/>
                </a:solidFill>
                <a:latin typeface="Arial"/>
              </a:rPr>
              <a:t>Units sold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50327" y="3379738"/>
            <a:ext cx="427137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72033"/>
                </a:solidFill>
                <a:latin typeface="Arial"/>
              </a:rPr>
              <a:t>34,789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80125" y="3614291"/>
            <a:ext cx="4897338" cy="326231"/>
          </a:xfrm>
          <a:prstGeom prst="rect">
            <a:avLst/>
          </a:prstGeom>
          <a:noFill/>
          <a:ln w="9525">
            <a:solidFill>
              <a:srgbClr val="E5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80125" y="3696587"/>
            <a:ext cx="4897338" cy="16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72033"/>
                </a:solidFill>
                <a:latin typeface="Arial"/>
              </a:rPr>
              <a:t>Closing units</a:t>
            </a:r>
            <a:r>
              <a:rPr sz="1100" b="1" i="0">
                <a:solidFill>
                  <a:srgbClr val="172033"/>
                </a:solidFill>
                <a:latin typeface="Arial"/>
              </a:rPr>
              <a:t>4,749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0125" y="3705969"/>
            <a:ext cx="799505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72033"/>
                </a:solidFill>
                <a:latin typeface="Arial"/>
              </a:rPr>
              <a:t>Closing units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28015" y="3705969"/>
            <a:ext cx="349448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72033"/>
                </a:solidFill>
                <a:latin typeface="Arial"/>
              </a:rPr>
              <a:t>4,749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80125" y="3940522"/>
            <a:ext cx="4897338" cy="326231"/>
          </a:xfrm>
          <a:prstGeom prst="rect">
            <a:avLst/>
          </a:prstGeom>
          <a:noFill/>
          <a:ln w="9525">
            <a:solidFill>
              <a:srgbClr val="E5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0125" y="4022818"/>
            <a:ext cx="4897338" cy="161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72033"/>
                </a:solidFill>
                <a:latin typeface="Arial"/>
              </a:rPr>
              <a:t>Inventory cost</a:t>
            </a:r>
            <a:r>
              <a:rPr sz="1100" b="1" i="0">
                <a:solidFill>
                  <a:srgbClr val="172033"/>
                </a:solidFill>
                <a:latin typeface="Arial"/>
              </a:rPr>
              <a:t>$79.6k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80125" y="4032200"/>
            <a:ext cx="869305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72033"/>
                </a:solidFill>
                <a:latin typeface="Arial"/>
              </a:rPr>
              <a:t>Inventory cost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50327" y="4032200"/>
            <a:ext cx="427137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72033"/>
                </a:solidFill>
                <a:latin typeface="Arial"/>
              </a:rPr>
              <a:t>$79.6k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580" y="4733330"/>
            <a:ext cx="11094393" cy="635496"/>
          </a:xfrm>
          <a:prstGeom prst="roundRect">
            <a:avLst>
              <a:gd name="adj" fmla="val 11511"/>
            </a:avLst>
          </a:prstGeom>
          <a:solidFill>
            <a:srgbClr val="FF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884" y="4879634"/>
            <a:ext cx="10801785" cy="342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72033"/>
                </a:solidFill>
                <a:latin typeface="Arial"/>
              </a:rPr>
              <a:t>Priority:</a:t>
            </a:r>
            <a:r>
              <a:rPr sz="1200" b="0" i="0">
                <a:solidFill>
                  <a:srgbClr val="172033"/>
                </a:solidFill>
                <a:latin typeface="Arial"/>
              </a:rPr>
              <a:t> Low-stock SKUs sold 25.4% of units but hold only 3.8% of closing stock. Electronics, Toys &amp; Games and Beauty have the largest low-stock counts and should lead the replenishment review.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2504" y="4879628"/>
            <a:ext cx="584299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72033"/>
                </a:solidFill>
                <a:latin typeface="Arial"/>
              </a:rPr>
              <a:t>Priority: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70196" y="6542633"/>
            <a:ext cx="209996" cy="114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9" b="0" i="0">
                <a:solidFill>
                  <a:srgbClr val="98A6B8"/>
                </a:solidFill>
                <a:latin typeface="Arial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554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580" y="438894"/>
            <a:ext cx="11094393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6B82"/>
                </a:solidFill>
                <a:latin typeface="Arial"/>
              </a:rPr>
              <a:t>Top products by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580" y="610344"/>
            <a:ext cx="11094393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B1F3A"/>
                </a:solidFill>
                <a:latin typeface="Arial"/>
              </a:rPr>
              <a:t>Top 10 products are Electronics-led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580" y="1101775"/>
            <a:ext cx="11094393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B82"/>
                </a:solidFill>
                <a:latin typeface="Arial"/>
              </a:rPr>
              <a:t>Highest product-level sales at retail; low-stock items highlighted.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580" y="1493341"/>
          <a:ext cx="11094393" cy="32373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799"/>
                <a:gridCol w="1386799"/>
                <a:gridCol w="1386799"/>
                <a:gridCol w="1386799"/>
                <a:gridCol w="1386799"/>
                <a:gridCol w="1386799"/>
                <a:gridCol w="1386799"/>
                <a:gridCol w="1386800"/>
              </a:tblGrid>
              <a:tr h="294300"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6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60" b="1" i="0">
                          <a:solidFill>
                            <a:srgbClr val="FFFFFF"/>
                          </a:solidFill>
                          <a:latin typeface="Arial"/>
                        </a:rPr>
                        <a:t>Product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60" b="1" i="0">
                          <a:solidFill>
                            <a:srgbClr val="FFFFFF"/>
                          </a:solidFill>
                          <a:latin typeface="Arial"/>
                        </a:rPr>
                        <a:t>Supplier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60" b="1" i="0">
                          <a:solidFill>
                            <a:srgbClr val="FFFFFF"/>
                          </a:solidFill>
                          <a:latin typeface="Arial"/>
                        </a:rPr>
                        <a:t>Units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60" b="1" i="0">
                          <a:solidFill>
                            <a:srgbClr val="FFFFFF"/>
                          </a:solidFill>
                          <a:latin typeface="Arial"/>
                        </a:rPr>
                        <a:t>Price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60" b="1" i="0">
                          <a:solidFill>
                            <a:srgbClr val="FFFFFF"/>
                          </a:solidFill>
                          <a:latin typeface="Arial"/>
                        </a:rPr>
                        <a:t>Sales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60" b="1" i="0">
                          <a:solidFill>
                            <a:srgbClr val="FFFFFF"/>
                          </a:solidFill>
                          <a:latin typeface="Arial"/>
                        </a:rPr>
                        <a:t>Closing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60" b="1" i="0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294300"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1" i="0">
                          <a:solidFill>
                            <a:srgbClr val="243349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LED Desk Lamp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Metro Distributors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432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$131.63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$56,864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294300"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1" i="0">
                          <a:solidFill>
                            <a:srgbClr val="243349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Screen Protector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Pacific Wholesale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324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$133.51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$43,257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In</a:t>
                      </a:r>
                    </a:p>
                  </a:txBody>
                  <a:tcPr/>
                </a:tc>
              </a:tr>
              <a:tr h="294300"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1" i="0">
                          <a:solidFill>
                            <a:srgbClr val="243349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Power Bank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Coastal Trading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$111.82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$33,881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294300"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1" i="0">
                          <a:solidFill>
                            <a:srgbClr val="243349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USB Cable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Premier Merchandise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$134.27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$31,016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In</a:t>
                      </a:r>
                    </a:p>
                  </a:txBody>
                  <a:tcPr/>
                </a:tc>
              </a:tr>
              <a:tr h="294300"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1" i="0">
                          <a:solidFill>
                            <a:srgbClr val="243349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Power Bank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Heritage Brands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$157.40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$31,008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In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294300"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1" i="0">
                          <a:solidFill>
                            <a:srgbClr val="243349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Webcam Cover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Summit Wholesale Inc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247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$121.38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$29,981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In</a:t>
                      </a:r>
                    </a:p>
                  </a:txBody>
                  <a:tcPr/>
                </a:tc>
              </a:tr>
              <a:tr h="294300"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1" i="0">
                          <a:solidFill>
                            <a:srgbClr val="243349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Smart Plug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Coastal Trading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412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$72.16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$29,730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In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294300"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1" i="0">
                          <a:solidFill>
                            <a:srgbClr val="243349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Phone Case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AllGoods Supply Co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$136.44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$28,107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In</a:t>
                      </a:r>
                    </a:p>
                  </a:txBody>
                  <a:tcPr/>
                </a:tc>
              </a:tr>
              <a:tr h="294300"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1" i="0">
                          <a:solidFill>
                            <a:srgbClr val="243349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Smart Plug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AllGoods Supply Co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$133.86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$27,843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In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294309"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1" i="0">
                          <a:solidFill>
                            <a:srgbClr val="243349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HDMI Cable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Summit Wholesale Inc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$66.22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$27,481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920" b="0" i="0">
                          <a:solidFill>
                            <a:srgbClr val="243349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580" y="1493341"/>
            <a:ext cx="600224" cy="269677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8804" y="1493341"/>
            <a:ext cx="2170509" cy="269677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19314" y="1493341"/>
            <a:ext cx="2771180" cy="269677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0493" y="1493341"/>
            <a:ext cx="901154" cy="269677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1648" y="1493341"/>
            <a:ext cx="1215182" cy="269677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06829" y="1493341"/>
            <a:ext cx="1215182" cy="269677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422011" y="1493341"/>
            <a:ext cx="1169194" cy="269677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91205" y="1493341"/>
            <a:ext cx="1051768" cy="269677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580" y="1763018"/>
            <a:ext cx="600224" cy="292001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8804" y="1763018"/>
            <a:ext cx="2170509" cy="292001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19314" y="1763018"/>
            <a:ext cx="2771180" cy="292001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0493" y="1763018"/>
            <a:ext cx="901154" cy="292001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1648" y="1763018"/>
            <a:ext cx="1215182" cy="292001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06829" y="1763018"/>
            <a:ext cx="1215182" cy="292001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22011" y="1763018"/>
            <a:ext cx="1169194" cy="292001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591205" y="1763018"/>
            <a:ext cx="1051768" cy="292001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668893" y="1831479"/>
            <a:ext cx="344239" cy="150316"/>
          </a:xfrm>
          <a:prstGeom prst="roundRect">
            <a:avLst>
              <a:gd name="adj" fmla="val 50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42045" y="1854339"/>
            <a:ext cx="197935" cy="104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B83B27"/>
                </a:solidFill>
                <a:latin typeface="Arial"/>
              </a:rPr>
              <a:t>Low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68893" y="2128242"/>
            <a:ext cx="234255" cy="150316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42045" y="2151102"/>
            <a:ext cx="87951" cy="104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24714D"/>
                </a:solidFill>
                <a:latin typeface="Arial"/>
              </a:rPr>
              <a:t>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580" y="2351782"/>
            <a:ext cx="600224" cy="296763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8804" y="2351782"/>
            <a:ext cx="2170509" cy="296763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19314" y="2351782"/>
            <a:ext cx="2771180" cy="296763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90493" y="2351782"/>
            <a:ext cx="901154" cy="296763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91648" y="2351782"/>
            <a:ext cx="1215182" cy="296763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06829" y="2351782"/>
            <a:ext cx="1215182" cy="296763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22011" y="2351782"/>
            <a:ext cx="1169194" cy="296763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591205" y="2351782"/>
            <a:ext cx="1051768" cy="296763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668893" y="2425005"/>
            <a:ext cx="344239" cy="150316"/>
          </a:xfrm>
          <a:prstGeom prst="roundRect">
            <a:avLst>
              <a:gd name="adj" fmla="val 50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42045" y="2447865"/>
            <a:ext cx="197935" cy="104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B83B27"/>
                </a:solidFill>
                <a:latin typeface="Arial"/>
              </a:rPr>
              <a:t>Low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668893" y="2721769"/>
            <a:ext cx="234255" cy="150316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42045" y="2744629"/>
            <a:ext cx="87951" cy="104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24714D"/>
                </a:solidFill>
                <a:latin typeface="Arial"/>
              </a:rPr>
              <a:t>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580" y="2945309"/>
            <a:ext cx="600224" cy="296763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8804" y="2945309"/>
            <a:ext cx="2170509" cy="296763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19314" y="2945309"/>
            <a:ext cx="2771180" cy="296763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90493" y="2945309"/>
            <a:ext cx="901154" cy="296763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991648" y="2945309"/>
            <a:ext cx="1215182" cy="296763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06829" y="2945309"/>
            <a:ext cx="1215182" cy="296763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422011" y="2945309"/>
            <a:ext cx="1169194" cy="296763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591205" y="2945309"/>
            <a:ext cx="1051768" cy="296763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668893" y="3018532"/>
            <a:ext cx="234255" cy="150316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742045" y="3041392"/>
            <a:ext cx="87951" cy="104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24714D"/>
                </a:solidFill>
                <a:latin typeface="Arial"/>
              </a:rPr>
              <a:t>In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668893" y="3315295"/>
            <a:ext cx="234255" cy="150316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742045" y="3338155"/>
            <a:ext cx="87951" cy="104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24714D"/>
                </a:solidFill>
                <a:latin typeface="Arial"/>
              </a:rPr>
              <a:t>In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580" y="3538835"/>
            <a:ext cx="600224" cy="296763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48804" y="3538835"/>
            <a:ext cx="2170509" cy="296763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319314" y="3538835"/>
            <a:ext cx="2771180" cy="296763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090493" y="3538835"/>
            <a:ext cx="901154" cy="296763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991648" y="3538835"/>
            <a:ext cx="1215182" cy="296763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206829" y="3538835"/>
            <a:ext cx="1215182" cy="296763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22011" y="3538835"/>
            <a:ext cx="1169194" cy="296763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591205" y="3538835"/>
            <a:ext cx="1051768" cy="296763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0668893" y="3612059"/>
            <a:ext cx="234255" cy="150316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742045" y="3634919"/>
            <a:ext cx="87951" cy="104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24714D"/>
                </a:solidFill>
                <a:latin typeface="Arial"/>
              </a:rPr>
              <a:t>In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668893" y="3908822"/>
            <a:ext cx="234255" cy="150316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742045" y="3931682"/>
            <a:ext cx="87951" cy="104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24714D"/>
                </a:solidFill>
                <a:latin typeface="Arial"/>
              </a:rPr>
              <a:t>In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580" y="4132362"/>
            <a:ext cx="600224" cy="296763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48804" y="4132362"/>
            <a:ext cx="2170509" cy="296763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319314" y="4132362"/>
            <a:ext cx="2771180" cy="296763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0493" y="4132362"/>
            <a:ext cx="901154" cy="296763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991648" y="4132362"/>
            <a:ext cx="1215182" cy="296763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206829" y="4132362"/>
            <a:ext cx="1215182" cy="296763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422011" y="4132362"/>
            <a:ext cx="1169194" cy="296763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591205" y="4132362"/>
            <a:ext cx="1051768" cy="296763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0668893" y="4205585"/>
            <a:ext cx="234255" cy="150316"/>
          </a:xfrm>
          <a:prstGeom prst="roundRect">
            <a:avLst>
              <a:gd name="adj" fmla="val 50000"/>
            </a:avLst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742045" y="4228445"/>
            <a:ext cx="87951" cy="104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24714D"/>
                </a:solidFill>
                <a:latin typeface="Arial"/>
              </a:rPr>
              <a:t>In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668893" y="4502348"/>
            <a:ext cx="344239" cy="150316"/>
          </a:xfrm>
          <a:prstGeom prst="roundRect">
            <a:avLst>
              <a:gd name="adj" fmla="val 50000"/>
            </a:avLst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742045" y="4525208"/>
            <a:ext cx="197935" cy="1045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1" i="0">
                <a:solidFill>
                  <a:srgbClr val="B83B27"/>
                </a:solidFill>
                <a:latin typeface="Arial"/>
              </a:rPr>
              <a:t>Low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570196" y="6542633"/>
            <a:ext cx="209996" cy="114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9" b="0" i="0">
                <a:solidFill>
                  <a:srgbClr val="98A6B8"/>
                </a:solidFill>
                <a:latin typeface="Arial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554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580" y="438894"/>
            <a:ext cx="11094393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6B82"/>
                </a:solidFill>
                <a:latin typeface="Arial"/>
              </a:rPr>
              <a:t>Category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580" y="610344"/>
            <a:ext cx="11094393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B1F3A"/>
                </a:solidFill>
                <a:latin typeface="Arial"/>
              </a:rPr>
              <a:t>Category operating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580" y="1101775"/>
            <a:ext cx="11094393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B82"/>
                </a:solidFill>
                <a:latin typeface="Arial"/>
              </a:rPr>
              <a:t>SKU count, velocity, inventory cost, sales, margin and low-stock exposure.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580" y="1493341"/>
          <a:ext cx="11094393" cy="2122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799"/>
                <a:gridCol w="1386799"/>
                <a:gridCol w="1386799"/>
                <a:gridCol w="1386799"/>
                <a:gridCol w="1386799"/>
                <a:gridCol w="1386799"/>
                <a:gridCol w="1386799"/>
                <a:gridCol w="1386800"/>
              </a:tblGrid>
              <a:tr h="235876"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60" b="1" i="0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60" b="1" i="0">
                          <a:solidFill>
                            <a:srgbClr val="FFFFFF"/>
                          </a:solidFill>
                          <a:latin typeface="Arial"/>
                        </a:rPr>
                        <a:t>SKUs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60" b="1" i="0">
                          <a:solidFill>
                            <a:srgbClr val="FFFFFF"/>
                          </a:solidFill>
                          <a:latin typeface="Arial"/>
                        </a:rPr>
                        <a:t>Units sold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60" b="1" i="0">
                          <a:solidFill>
                            <a:srgbClr val="FFFFFF"/>
                          </a:solidFill>
                          <a:latin typeface="Arial"/>
                        </a:rPr>
                        <a:t>Closing units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60" b="1" i="0">
                          <a:solidFill>
                            <a:srgbClr val="FFFFFF"/>
                          </a:solidFill>
                          <a:latin typeface="Arial"/>
                        </a:rPr>
                        <a:t>Inventory cost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60" b="1" i="0">
                          <a:solidFill>
                            <a:srgbClr val="FFFFFF"/>
                          </a:solidFill>
                          <a:latin typeface="Arial"/>
                        </a:rPr>
                        <a:t>Sales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60" b="1" i="0">
                          <a:solidFill>
                            <a:srgbClr val="FFFFFF"/>
                          </a:solidFill>
                          <a:latin typeface="Arial"/>
                        </a:rPr>
                        <a:t>Gross margin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60" b="1" i="0">
                          <a:solidFill>
                            <a:srgbClr val="FFFFFF"/>
                          </a:solidFill>
                          <a:latin typeface="Arial"/>
                        </a:rPr>
                        <a:t>Low-stock SKUs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235876"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Electronics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17,621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14,089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$584,238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$1,238,470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$522,114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235876"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Toys &amp; Games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19,704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13,873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$199,006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$500,749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$217,311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/>
                </a:tc>
              </a:tr>
              <a:tr h="235876"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Clothing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13,736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15,555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$305,492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$473,434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$204,570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235876"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Home &amp; Kitchen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18,387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15,663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$216,748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$468,878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$196,572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/>
                </a:tc>
              </a:tr>
              <a:tr h="235876"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Sports &amp; Outdoors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16,979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17,015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$237,574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$393,757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$165,803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235876"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Beauty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18,137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16,557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$185,905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$354,848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$152,909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/>
                </a:tc>
              </a:tr>
              <a:tr h="235876"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Office Supplies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17,112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17,956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$135,268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$222,271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$99,303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235876"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Grocery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15,364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14,703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$101,376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$179,144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$72,589</a:t>
                      </a:r>
                    </a:p>
                  </a:txBody>
                  <a:tcPr/>
                </a:tc>
                <a:tc>
                  <a:txBody>
                    <a:bodyPr lIns="38100" rIns="38100" tIns="19050" bIns="19050"/>
                    <a:lstStyle/>
                    <a:p>
                      <a:pPr algn="l"/>
                      <a:r>
                        <a:rPr sz="849" b="0" i="0">
                          <a:solidFill>
                            <a:srgbClr val="243349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580" y="1493341"/>
            <a:ext cx="1802457" cy="227409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51038" y="1493341"/>
            <a:ext cx="728216" cy="227409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79254" y="1493341"/>
            <a:ext cx="1154013" cy="227409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33267" y="1493341"/>
            <a:ext cx="1448544" cy="227409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81811" y="1493341"/>
            <a:ext cx="1547515" cy="227409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29326" y="1493341"/>
            <a:ext cx="1176486" cy="227409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05812" y="1493341"/>
            <a:ext cx="1481882" cy="227409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87694" y="1493341"/>
            <a:ext cx="1755279" cy="227409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580" y="1720751"/>
            <a:ext cx="1802457" cy="2321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51038" y="1720751"/>
            <a:ext cx="728216" cy="2321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79254" y="1720751"/>
            <a:ext cx="1154013" cy="2321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33267" y="1720751"/>
            <a:ext cx="1448544" cy="2321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81811" y="1720751"/>
            <a:ext cx="1547515" cy="2321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29326" y="1720751"/>
            <a:ext cx="1176486" cy="2321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05812" y="1720751"/>
            <a:ext cx="1481882" cy="2321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87694" y="1720751"/>
            <a:ext cx="1755279" cy="2321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580" y="2189857"/>
            <a:ext cx="1802457" cy="23693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51038" y="2189857"/>
            <a:ext cx="728216" cy="23693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79254" y="2189857"/>
            <a:ext cx="1154013" cy="23693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33267" y="2189857"/>
            <a:ext cx="1448544" cy="23693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81811" y="2189857"/>
            <a:ext cx="1547515" cy="23693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29326" y="2189857"/>
            <a:ext cx="1176486" cy="23693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05812" y="2189857"/>
            <a:ext cx="1481882" cy="23693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887694" y="2189857"/>
            <a:ext cx="1755279" cy="23693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580" y="2663726"/>
            <a:ext cx="1802457" cy="23693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51038" y="2663726"/>
            <a:ext cx="728216" cy="23693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079254" y="2663726"/>
            <a:ext cx="1154013" cy="23693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33267" y="2663726"/>
            <a:ext cx="1448544" cy="23693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81811" y="2663726"/>
            <a:ext cx="1547515" cy="23693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229326" y="2663726"/>
            <a:ext cx="1176486" cy="23693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05812" y="2663726"/>
            <a:ext cx="1481882" cy="23693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87694" y="2663726"/>
            <a:ext cx="1755279" cy="23693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580" y="3137595"/>
            <a:ext cx="1802457" cy="23693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351038" y="3137595"/>
            <a:ext cx="728216" cy="23693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079254" y="3137595"/>
            <a:ext cx="1154013" cy="23693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33267" y="3137595"/>
            <a:ext cx="1448544" cy="23693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81811" y="3137595"/>
            <a:ext cx="1547515" cy="23693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229326" y="3137595"/>
            <a:ext cx="1176486" cy="23693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05812" y="3137595"/>
            <a:ext cx="1481882" cy="23693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887694" y="3137595"/>
            <a:ext cx="1755279" cy="236934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8580" y="3844826"/>
            <a:ext cx="11094393" cy="528935"/>
          </a:xfrm>
          <a:prstGeom prst="roundRect">
            <a:avLst>
              <a:gd name="adj" fmla="val 13830"/>
            </a:avLst>
          </a:prstGeom>
          <a:solidFill>
            <a:srgbClr val="EA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9748" y="4009418"/>
            <a:ext cx="10692057" cy="199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99" b="1" i="0">
                <a:solidFill>
                  <a:srgbClr val="26374D"/>
                </a:solidFill>
                <a:latin typeface="Arial"/>
              </a:rPr>
              <a:t>Watch list:</a:t>
            </a:r>
            <a:r>
              <a:rPr sz="1299" b="0" i="0">
                <a:solidFill>
                  <a:srgbClr val="26374D"/>
                </a:solidFill>
                <a:latin typeface="Arial"/>
              </a:rPr>
              <a:t> Toys &amp; Games has the highest low-stock count, while Electronics carries the largest inventory cost and margin pool.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7272" y="4009281"/>
            <a:ext cx="828526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99" b="1" i="0">
                <a:solidFill>
                  <a:srgbClr val="26374D"/>
                </a:solidFill>
                <a:latin typeface="Arial"/>
              </a:rPr>
              <a:t>Watch list: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70196" y="6542633"/>
            <a:ext cx="209996" cy="114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9" b="0" i="0">
                <a:solidFill>
                  <a:srgbClr val="98A6B8"/>
                </a:solidFill>
                <a:latin typeface="Arial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554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580" y="438894"/>
            <a:ext cx="11094393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B6B82"/>
                </a:solidFill>
                <a:latin typeface="Arial"/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580" y="610344"/>
            <a:ext cx="11094393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B1F3A"/>
                </a:solidFill>
                <a:latin typeface="Arial"/>
              </a:rPr>
              <a:t>Immediate actions to protect sales and margin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580" y="1238994"/>
            <a:ext cx="5437436" cy="1234380"/>
          </a:xfrm>
          <a:prstGeom prst="roundRect">
            <a:avLst>
              <a:gd name="adj" fmla="val 10371"/>
            </a:avLst>
          </a:prstGeom>
          <a:solidFill>
            <a:srgbClr val="FFFFFF"/>
          </a:solidFill>
          <a:ln w="9525">
            <a:solidFill>
              <a:srgbClr val="DF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478" y="1467892"/>
            <a:ext cx="497964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Arial"/>
              </a:rPr>
              <a:t>1. Replenish high-velocity 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478" y="1760041"/>
            <a:ext cx="4979640" cy="4113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546A"/>
                </a:solidFill>
                <a:latin typeface="Arial"/>
              </a:rPr>
              <a:t>Prioritise low-stock SKUs with high unit sales, starting with LED Desk Lamp, Power Bank and HDMI Cable.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5389" y="1238994"/>
            <a:ext cx="5437584" cy="1234380"/>
          </a:xfrm>
          <a:prstGeom prst="roundRect">
            <a:avLst>
              <a:gd name="adj" fmla="val 10371"/>
            </a:avLst>
          </a:prstGeom>
          <a:solidFill>
            <a:srgbClr val="FFFFFF"/>
          </a:solidFill>
          <a:ln w="9525">
            <a:solidFill>
              <a:srgbClr val="DF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4286" y="1467892"/>
            <a:ext cx="4979789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Arial"/>
              </a:rPr>
              <a:t>2. Manage Electronics tightly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4286" y="1760041"/>
            <a:ext cx="4979789" cy="4113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546A"/>
                </a:solidFill>
                <a:latin typeface="Arial"/>
              </a:rPr>
              <a:t>Electronics drives ~32% of sales and the largest margin pool; review supplier lead times and safety stock.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580" y="2692747"/>
            <a:ext cx="5437436" cy="1234380"/>
          </a:xfrm>
          <a:prstGeom prst="roundRect">
            <a:avLst>
              <a:gd name="adj" fmla="val 10371"/>
            </a:avLst>
          </a:prstGeom>
          <a:solidFill>
            <a:srgbClr val="FFFFFF"/>
          </a:solidFill>
          <a:ln w="9525">
            <a:solidFill>
              <a:srgbClr val="DF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478" y="2921645"/>
            <a:ext cx="497964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Arial"/>
              </a:rPr>
              <a:t>3. Segment reorder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478" y="3213795"/>
            <a:ext cx="4979640" cy="4113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546A"/>
                </a:solidFill>
                <a:latin typeface="Arial"/>
              </a:rPr>
              <a:t>Use category-specific reorder points for Toys &amp; Games, Beauty and Home &amp; Kitchen where low-stock exposure is elevated.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5389" y="2692747"/>
            <a:ext cx="5437584" cy="1234380"/>
          </a:xfrm>
          <a:prstGeom prst="roundRect">
            <a:avLst>
              <a:gd name="adj" fmla="val 10371"/>
            </a:avLst>
          </a:prstGeom>
          <a:solidFill>
            <a:srgbClr val="FFFFFF"/>
          </a:solidFill>
          <a:ln w="9525">
            <a:solidFill>
              <a:srgbClr val="DF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4286" y="2921645"/>
            <a:ext cx="4979789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Arial"/>
              </a:rPr>
              <a:t>4. Convert excess stock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4286" y="3213795"/>
            <a:ext cx="4979789" cy="4113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4546A"/>
                </a:solidFill>
                <a:latin typeface="Arial"/>
              </a:rPr>
              <a:t>Target slower categories with promotional bundles while protecting margin on top-selling SKUs.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580" y="4155728"/>
            <a:ext cx="11094393" cy="528935"/>
          </a:xfrm>
          <a:prstGeom prst="roundRect">
            <a:avLst>
              <a:gd name="adj" fmla="val 13830"/>
            </a:avLst>
          </a:prstGeom>
          <a:solidFill>
            <a:srgbClr val="EA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748" y="4320320"/>
            <a:ext cx="10692057" cy="199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99" b="1" i="0">
                <a:solidFill>
                  <a:srgbClr val="26374D"/>
                </a:solidFill>
                <a:latin typeface="Arial"/>
              </a:rPr>
              <a:t>Next step:</a:t>
            </a:r>
            <a:r>
              <a:rPr sz="1299" b="0" i="0">
                <a:solidFill>
                  <a:srgbClr val="26374D"/>
                </a:solidFill>
                <a:latin typeface="Arial"/>
              </a:rPr>
              <a:t> Build a weekly exception report combining low-stock status, last-period units sold and supplier lead time.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272" y="4320183"/>
            <a:ext cx="79816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99" b="1" i="0">
                <a:solidFill>
                  <a:srgbClr val="26374D"/>
                </a:solidFill>
                <a:latin typeface="Arial"/>
              </a:rPr>
              <a:t>Next step: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70196" y="6542633"/>
            <a:ext cx="209996" cy="114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9" b="0" i="0">
                <a:solidFill>
                  <a:srgbClr val="98A6B8"/>
                </a:solidFill>
                <a:latin typeface="Arial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Inventory Performance Review</dc:title>
  <dc:subject>Retail inventory KPIs, category performance, stock risk and recommendations</dc:subject>
  <dc:creator>CIB Gen-AI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